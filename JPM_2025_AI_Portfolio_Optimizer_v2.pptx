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03087"/>
                </a:solidFill>
                <a:latin typeface="Georgia"/>
              </a:defRPr>
            </a:pPr>
            <a:r>
              <a:rPr sz="1050" b="0" i="0" u="none" strike="noStrike">
                <a:solidFill>
                  <a:srgbClr val="003087"/>
                </a:solidFill>
                <a:latin typeface="Georgia"/>
              </a:rPr>
              <a:t>Portfolio Strategy Comparison — Key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Equal Weight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Sharpe Ratio</c:v>
                  </c:pt>
                  <c:pt idx="1">
                    <c:v>Ann. Return (%)</c:v>
                  </c:pt>
                  <c:pt idx="2">
                    <c:v>Volatility (%)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0.92</c:v>
                </c:pt>
                <c:pt idx="1">
                  <c:v>24.1</c:v>
                </c:pt>
                <c:pt idx="2">
                  <c:v>22.8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Sharpe Optimized</c:v>
                </c:pt>
              </c:strCache>
            </c:strRef>
          </c:tx>
          <c:spPr>
            <a:solidFill>
              <a:srgbClr val="005E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Sharpe Ratio</c:v>
                  </c:pt>
                  <c:pt idx="1">
                    <c:v>Ann. Return (%)</c:v>
                  </c:pt>
                  <c:pt idx="2">
                    <c:v>Volatility (%)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1.43</c:v>
                </c:pt>
                <c:pt idx="1">
                  <c:v>31.6</c:v>
                </c:pt>
                <c:pt idx="2">
                  <c:v>19.4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Optimized + FinBERT Sentiment</c:v>
                </c:pt>
              </c:strCache>
            </c:strRef>
          </c:tx>
          <c:spPr>
            <a:solidFill>
              <a:srgbClr val="003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Sharpe Ratio</c:v>
                  </c:pt>
                  <c:pt idx="1">
                    <c:v>Ann. Return (%)</c:v>
                  </c:pt>
                  <c:pt idx="2">
                    <c:v>Volatility (%)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1.61</c:v>
                </c:pt>
                <c:pt idx="1">
                  <c:v>34.2</c:v>
                </c:pt>
                <c:pt idx="2">
                  <c:v>18.1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CCCCC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6350" cap="flat">
          <a:solidFill>
            <a:srgbClr val="CCCCCC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4444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0" y="201168"/>
            <a:ext cx="9144000" cy="16642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&amp; CO.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5486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PORTFOLIO OPTIMIZER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120700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CC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Integrating FinBERT Sentiment Intelligence with Quantitative Portfolio Optimization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CC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LLM-Driven, Auditable Investment Recommendations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256032"/>
            <a:ext cx="1828800" cy="15361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438912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804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0" y="1865376"/>
            <a:ext cx="9144000" cy="457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938528"/>
            <a:ext cx="2057400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0116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6032" y="22128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Parmod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" y="251460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Engineer, Level IV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32304" y="1938528"/>
            <a:ext cx="2057400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32304" y="20116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432304" y="22128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Strat.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32304" y="251460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Group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08576" y="1938528"/>
            <a:ext cx="2057400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20116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08576" y="22128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2026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08576" y="251460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Briefing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84848" y="1938528"/>
            <a:ext cx="2057400" cy="3657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20116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784848" y="22128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  ·  CIO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84848" y="251460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Algo Trading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032" y="2788920"/>
            <a:ext cx="8631936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2852928"/>
            <a:ext cx="2057400" cy="107899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2852928"/>
            <a:ext cx="2057400" cy="457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292608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347472" y="35204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32304" y="2852928"/>
            <a:ext cx="2057400" cy="107899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32304" y="2852928"/>
            <a:ext cx="2057400" cy="457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32304" y="292608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5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2523744" y="35204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Integrated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08576" y="2852928"/>
            <a:ext cx="2057400" cy="107899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08576" y="2852928"/>
            <a:ext cx="2057400" cy="457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08576" y="292608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+75%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4700016" y="35204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Improvement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84848" y="2852928"/>
            <a:ext cx="2057400" cy="107899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84848" y="2852928"/>
            <a:ext cx="2057400" cy="457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292608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5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 sec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6876288" y="35204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Latency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56032" y="400507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github.com/Parmodk2310/AI-Powered-Portfolio-Optimizer  |  parmodk.official@gmail.com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8631936" cy="274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19456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60350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Portfolio Optimizer — Executive Briefing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868680"/>
            <a:ext cx="475488" cy="8046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86868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90525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2161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 · Business case · Opportunity sizing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05072" y="92354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" y="1755648"/>
            <a:ext cx="42062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828800"/>
            <a:ext cx="475488" cy="8046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82880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186537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1762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pipeline · Technology decisions · Data flows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05072" y="188366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2715768"/>
            <a:ext cx="42062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788920"/>
            <a:ext cx="475488" cy="8046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78892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282549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1363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improvement · Backtested results · Risk profile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05072" y="284378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" y="3675888"/>
            <a:ext cx="42062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3749040"/>
            <a:ext cx="475488" cy="8046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74904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378561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09651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· FAISS · Groq · FastAPI · Docker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005072" y="380390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6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868680"/>
            <a:ext cx="475488" cy="8046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86868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30368" y="90525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0368" y="12161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· Auditability · Governance framework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412480" y="92354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7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1755648"/>
            <a:ext cx="42062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1828800"/>
            <a:ext cx="475488" cy="8046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182880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30368" y="186537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Impact &amp; ROI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30368" y="21762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generation · Cost savings · Efficiency gains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412480" y="188366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8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2715768"/>
            <a:ext cx="42062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2788920"/>
            <a:ext cx="475488" cy="8046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278892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30368" y="282549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30368" y="31363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· Gap analysis · Build vs buy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412480" y="284378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9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63440" y="3675888"/>
            <a:ext cx="420624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3749040"/>
            <a:ext cx="475488" cy="8046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374904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230368" y="378561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Resource Ask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30368" y="409651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plan · Timeline · Budget request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412480" y="380390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10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462272" y="841248"/>
            <a:ext cx="36576" cy="3886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8631936" cy="274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19456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 STRATEGIC CONTEXT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60350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landscape creates a quantifiable gap our system closes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" y="8686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CURRENT TOOLING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170432"/>
            <a:ext cx="54864" cy="82296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170432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models are news-blind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1417320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Sharpe-based optimizers ingest only historical price data. A negative earnings surprise moves a stock 8–12% pre-open before the model can react. Estimated alpha leakage: 40–60 events per year.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139696"/>
            <a:ext cx="54864" cy="82296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139696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is not scalable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" y="2386584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of 20+ positions requires 2–3 hours of daily analyst time for news review. At scale, this is operationally unsustainable and introduces inconsistency bias.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3108960"/>
            <a:ext cx="54864" cy="82296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3108960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audit gaps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" y="3355848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cannot explain why a position was changed. Compliance teams manually document decisions post-hoc — a regulatory risk under SEC Rule 17a-4 recordkeeping requirements.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35424" y="841248"/>
            <a:ext cx="36576" cy="39319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8686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SIZING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1170432"/>
            <a:ext cx="1956816" cy="138988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1170432"/>
            <a:ext cx="1956816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261872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40–60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754880" y="1792224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events/year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91456" y="2002536"/>
            <a:ext cx="173736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048256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alpha events missed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pure quant models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48272" y="1170432"/>
            <a:ext cx="1956816" cy="138988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48272" y="1170432"/>
            <a:ext cx="1956816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1424" y="1261872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0.5–1.5%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21424" y="1792224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drag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0" y="2002536"/>
            <a:ext cx="173736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2048256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return drag from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rebalancing decisions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81728" y="2706624"/>
            <a:ext cx="1956816" cy="138988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1728" y="2706624"/>
            <a:ext cx="1956816" cy="457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798064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754880" y="332841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reduction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91456" y="3538728"/>
            <a:ext cx="173736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5844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hours saved via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 pipeline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48272" y="2706624"/>
            <a:ext cx="1956816" cy="138988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48272" y="2706624"/>
            <a:ext cx="1956816" cy="457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21424" y="2798064"/>
            <a:ext cx="18105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$100B+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821424" y="332841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addressable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58000" y="3538728"/>
            <a:ext cx="173736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21424" y="35844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to JPM's equity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strategies book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6032" y="4741164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Estimated based on internal monitoring study, Q3 2025. Alpha leakage figures are illustrative. ² SEC Rule 17a-4 — Books and Records Requirements for Broker-Dealers.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8631936" cy="274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19456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 SYSTEM ARCHITECTURE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60350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automated pipeline — raw market data to auditable recommendation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841248"/>
            <a:ext cx="530352" cy="96926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16200000">
            <a:off x="274320" y="841248"/>
            <a:ext cx="49377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877824" y="841248"/>
            <a:ext cx="2029968" cy="969264"/>
          </a:xfrm>
          <a:prstGeom prst="rect">
            <a:avLst/>
          </a:prstGeom>
          <a:solidFill>
            <a:srgbClr val="F7F9FC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841248"/>
            <a:ext cx="2029968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" y="932688"/>
            <a:ext cx="256032" cy="256032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932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98448" y="914400"/>
            <a:ext cx="15361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API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252-day history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07792" y="1289304"/>
            <a:ext cx="109728" cy="7315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841248"/>
            <a:ext cx="2029968" cy="969264"/>
          </a:xfrm>
          <a:prstGeom prst="rect">
            <a:avLst/>
          </a:prstGeom>
          <a:solidFill>
            <a:srgbClr val="F7F9FC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841248"/>
            <a:ext cx="2029968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932688"/>
            <a:ext cx="256032" cy="256032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932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38144" y="914400"/>
            <a:ext cx="15361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News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headlines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1810512"/>
            <a:ext cx="128016" cy="1280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1938528"/>
            <a:ext cx="530352" cy="969264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 rot="16200000">
            <a:off x="274320" y="1938528"/>
            <a:ext cx="49377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877824" y="1938528"/>
            <a:ext cx="2029968" cy="969264"/>
          </a:xfrm>
          <a:prstGeom prst="rect">
            <a:avLst/>
          </a:prstGeom>
          <a:solidFill>
            <a:srgbClr val="F7F9FC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1938528"/>
            <a:ext cx="2029968" cy="54864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9264" y="2029968"/>
            <a:ext cx="256032" cy="25603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2029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98448" y="2011680"/>
            <a:ext cx="15361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07792" y="2386584"/>
            <a:ext cx="109728" cy="73152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1938528"/>
            <a:ext cx="2029968" cy="969264"/>
          </a:xfrm>
          <a:prstGeom prst="rect">
            <a:avLst/>
          </a:prstGeom>
          <a:solidFill>
            <a:srgbClr val="F7F9FC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1938528"/>
            <a:ext cx="2029968" cy="54864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2029968"/>
            <a:ext cx="256032" cy="25603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2029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38144" y="2011680"/>
            <a:ext cx="15361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Scoring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(ProsusAI)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 to +1.0 score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2907792"/>
            <a:ext cx="128016" cy="1280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" y="3035808"/>
            <a:ext cx="530352" cy="9692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 rot="16200000">
            <a:off x="274320" y="3035808"/>
            <a:ext cx="49377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877824" y="3035808"/>
            <a:ext cx="2029968" cy="969264"/>
          </a:xfrm>
          <a:prstGeom prst="rect">
            <a:avLst/>
          </a:prstGeom>
          <a:solidFill>
            <a:srgbClr val="F7F9FC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7824" y="3035808"/>
            <a:ext cx="2029968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9264" y="3127248"/>
            <a:ext cx="256032" cy="256032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298448" y="3108960"/>
            <a:ext cx="15361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Optimization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SLSQP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Long-only constraints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07792" y="3483864"/>
            <a:ext cx="109728" cy="731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3035808"/>
            <a:ext cx="2029968" cy="969264"/>
          </a:xfrm>
          <a:prstGeom prst="rect">
            <a:avLst/>
          </a:prstGeom>
          <a:solidFill>
            <a:srgbClr val="F7F9FC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17520" y="3035808"/>
            <a:ext cx="2029968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08960" y="3127248"/>
            <a:ext cx="256032" cy="256032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438144" y="3108960"/>
            <a:ext cx="15361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Blending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parameter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+ Sentiment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7200" y="4005072"/>
            <a:ext cx="128016" cy="1280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" y="4133088"/>
            <a:ext cx="530352" cy="9692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 rot="16200000">
            <a:off x="274320" y="4133088"/>
            <a:ext cx="49377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OUTPUT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877824" y="4133088"/>
            <a:ext cx="2029968" cy="969264"/>
          </a:xfrm>
          <a:prstGeom prst="rect">
            <a:avLst/>
          </a:prstGeom>
          <a:solidFill>
            <a:srgbClr val="F7F9F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4133088"/>
            <a:ext cx="2029968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9264" y="4224528"/>
            <a:ext cx="256032" cy="25603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9264" y="42245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298448" y="4206240"/>
            <a:ext cx="15361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· Drawdown · HHI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&amp; 99% confidence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907792" y="4581144"/>
            <a:ext cx="109728" cy="731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17520" y="4133088"/>
            <a:ext cx="2029968" cy="969264"/>
          </a:xfrm>
          <a:prstGeom prst="rect">
            <a:avLst/>
          </a:prstGeom>
          <a:solidFill>
            <a:srgbClr val="F7F9F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17520" y="4133088"/>
            <a:ext cx="2029968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08960" y="4224528"/>
            <a:ext cx="256032" cy="25603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0" y="42245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438144" y="4206240"/>
            <a:ext cx="15361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HOLD / REDUCE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937760" y="841248"/>
            <a:ext cx="3931920" cy="400507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37760" y="841248"/>
            <a:ext cx="3931920" cy="457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0" y="886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&amp; DEPLOYMENT LAYER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029200" y="1188720"/>
            <a:ext cx="54864" cy="7315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93792" y="118872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(FastAPI)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193792" y="1463040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/optimize · GET /sentiment · GET /portfolio/report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· Auto-docs at /docs · CORS-enabled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029200" y="2103120"/>
            <a:ext cx="54864" cy="7315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93792" y="210312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193792" y="2377440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multipage UI · 5 analysis tabs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charts · Session-cached pipeline results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029200" y="3017520"/>
            <a:ext cx="54864" cy="73152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93792" y="301752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Infrastructure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193792" y="3291840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(python:3.10-slim) · docker-compose for local dev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 (port 7860) · Kubernetes-ready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029200" y="3931920"/>
            <a:ext cx="54864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93792" y="393192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Persistence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193792" y="4206240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binary index (index.faiss + documents.pkl)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portfolio database (upgrade path → PostgreSQL)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8631936" cy="274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19456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 MODEL PERFORMANCE RESULTS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60350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 on AAPL · MSFT · GOOGL · AMZN, trailing 12 months (2024–2025)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841248"/>
            <a:ext cx="1664208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841248"/>
            <a:ext cx="1664208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932688"/>
            <a:ext cx="148132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10896" y="1364285"/>
            <a:ext cx="15544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" y="1635862"/>
            <a:ext cx="1554480" cy="181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equal weight baseline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93392" y="841248"/>
            <a:ext cx="1664208" cy="1005840"/>
          </a:xfrm>
          <a:prstGeom prst="rect">
            <a:avLst/>
          </a:prstGeom>
          <a:solidFill>
            <a:srgbClr val="D0E4F5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392" y="841248"/>
            <a:ext cx="1664208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932688"/>
            <a:ext cx="148132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048256" y="1364285"/>
            <a:ext cx="15544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Sharpe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48256" y="1635862"/>
            <a:ext cx="1554480" cy="181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0.92 equal weight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30752" y="841248"/>
            <a:ext cx="1664208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30752" y="841248"/>
            <a:ext cx="1664208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2192" y="932688"/>
            <a:ext cx="148132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34.2%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785616" y="1364285"/>
            <a:ext cx="15544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Annual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85616" y="1635862"/>
            <a:ext cx="1554480" cy="181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24.1% equal weight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68112" y="841248"/>
            <a:ext cx="1664208" cy="1005840"/>
          </a:xfrm>
          <a:prstGeom prst="rect">
            <a:avLst/>
          </a:prstGeom>
          <a:solidFill>
            <a:srgbClr val="D0E4F5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8112" y="841248"/>
            <a:ext cx="1664208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932688"/>
            <a:ext cx="148132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18.1%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522976" y="1364285"/>
            <a:ext cx="15544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22976" y="1635862"/>
            <a:ext cx="1554480" cy="181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22.8% equal weight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205472" y="841248"/>
            <a:ext cx="1664208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05472" y="841248"/>
            <a:ext cx="1664208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96912" y="932688"/>
            <a:ext cx="148132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$2,400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60336" y="1364285"/>
            <a:ext cx="15544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95% VaR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$100K)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60336" y="1635862"/>
            <a:ext cx="1554480" cy="181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method</a:t>
            </a:r>
            <a:endParaRPr lang="en-US" sz="75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256032" y="192024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5577840" y="19385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PER-TICKER SENTIMENT SIGNALS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577840" y="2176272"/>
            <a:ext cx="3291840" cy="1828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77840" y="2194560"/>
            <a:ext cx="640080" cy="25603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77840" y="21945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217920" y="2194560"/>
            <a:ext cx="658368" cy="25603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17920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76288" y="2194560"/>
            <a:ext cx="749808" cy="25603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76288" y="21945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7626096" y="2194560"/>
            <a:ext cx="658368" cy="25603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626096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8284464" y="2194560"/>
            <a:ext cx="585216" cy="25603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84464" y="2194560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577840" y="2450592"/>
            <a:ext cx="64008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614416" y="2450592"/>
            <a:ext cx="566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217920" y="2450592"/>
            <a:ext cx="658368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254496" y="2450592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+0.72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876288" y="2450592"/>
            <a:ext cx="749808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912864" y="2450592"/>
            <a:ext cx="676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7626096" y="2450592"/>
            <a:ext cx="658368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662672" y="2450592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8284464" y="2450592"/>
            <a:ext cx="585216" cy="438912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321040" y="2450592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5577840" y="2926080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614416" y="2926080"/>
            <a:ext cx="566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217920" y="2926080"/>
            <a:ext cx="65836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254496" y="2926080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+0.55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6876288" y="2926080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912864" y="2926080"/>
            <a:ext cx="676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7626096" y="2926080"/>
            <a:ext cx="65836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662672" y="2926080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8284464" y="2926080"/>
            <a:ext cx="585216" cy="438912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321040" y="2926080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5577840" y="3401568"/>
            <a:ext cx="640080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14416" y="3401568"/>
            <a:ext cx="566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6217920" y="3401568"/>
            <a:ext cx="658368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254496" y="3401568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−0.15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6876288" y="3401568"/>
            <a:ext cx="749808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912864" y="3401568"/>
            <a:ext cx="676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7626096" y="3401568"/>
            <a:ext cx="658368" cy="43891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662672" y="3401568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8284464" y="3401568"/>
            <a:ext cx="585216" cy="438912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321040" y="3401568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5577840" y="3877056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614416" y="3877056"/>
            <a:ext cx="566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AMZN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6217920" y="3877056"/>
            <a:ext cx="65836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254496" y="3877056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+0.40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6876288" y="3877056"/>
            <a:ext cx="7498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912864" y="3877056"/>
            <a:ext cx="676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7626096" y="3877056"/>
            <a:ext cx="65836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7662672" y="3877056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15.0%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8284464" y="3877056"/>
            <a:ext cx="585216" cy="438912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8321040" y="3877056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256032" y="4741164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Backtested results are hypothetical and do not represent actual trading. Past performance does not guarantee future results. ² Alpha blend: α = 0.6 (60% quant, 40% sentiment).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8631936" cy="274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19456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 TECHNOLOGY STACK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60350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components — each chosen for production reliability and auditability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841248"/>
            <a:ext cx="13716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8412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27632" y="841248"/>
            <a:ext cx="1664208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82496" y="84124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841248"/>
            <a:ext cx="749808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8412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41648" y="841248"/>
            <a:ext cx="4279392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841248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Justification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321040" y="841248"/>
            <a:ext cx="749808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8412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1115568"/>
            <a:ext cx="1371600" cy="429768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115568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Sentiment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27632" y="1115568"/>
            <a:ext cx="16642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82496" y="1115568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(ProsusAI/finbert)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1115568"/>
            <a:ext cx="7498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1115568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HF 4.40.1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041648" y="1115568"/>
            <a:ext cx="4279392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96512" y="1115568"/>
            <a:ext cx="41879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Reuters financial corpus. +18% F1 vs general BERT. Domain-specific: understands 'guidance disappoints', 'earnings beat', 'short squeeze' in context.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321040" y="1115568"/>
            <a:ext cx="7498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5904" y="1115568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1563624"/>
            <a:ext cx="1371600" cy="429768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1563624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627632" y="1563624"/>
            <a:ext cx="16642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82496" y="1563624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(Facebook AI Similarity)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91840" y="1563624"/>
            <a:ext cx="7498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6704" y="1563624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1.8.0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041648" y="1563624"/>
            <a:ext cx="427939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96512" y="1563624"/>
            <a:ext cx="41879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accelerated approximate nearest-neighbor search. Battle-tested at Meta at billion-vector scale. No server process — binary file only. 10× recall vs BM25 keyword search.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321040" y="1563624"/>
            <a:ext cx="7498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75904" y="1563624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" y="2011680"/>
            <a:ext cx="1371600" cy="429768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" y="2011680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627632" y="2011680"/>
            <a:ext cx="16642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82496" y="201168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91840" y="2011680"/>
            <a:ext cx="7498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46704" y="2011680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0.8.0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041648" y="2011680"/>
            <a:ext cx="4279392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96512" y="2011680"/>
            <a:ext cx="41879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2-second p50 latency via custom LPU hardware vs 15–30s GPT-4. Provider-agnostic via LangChain — one-line swap to Claude 3.5 or GPT-4o if required by governance.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321040" y="2011680"/>
            <a:ext cx="7498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75904" y="2011680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6032" y="2459736"/>
            <a:ext cx="1371600" cy="429768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" y="2459736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627632" y="2459736"/>
            <a:ext cx="16642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82496" y="2459736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(sentence-t.)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91840" y="2459736"/>
            <a:ext cx="7498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46704" y="2459736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2.7.0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041648" y="2459736"/>
            <a:ext cx="427939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96512" y="2459736"/>
            <a:ext cx="41879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vectors. 6-layer distilled BERT. 90MB. Trained on semantic similarity — similar articles cluster geometrically. Runs locally — no embedding API cost.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321040" y="2459736"/>
            <a:ext cx="7498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75904" y="2459736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6032" y="2907792"/>
            <a:ext cx="1371600" cy="429768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0896" y="2907792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627632" y="2907792"/>
            <a:ext cx="16642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82496" y="2907792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SLSQP (constrained QP)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91840" y="2907792"/>
            <a:ext cx="7498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46704" y="2907792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1.13.0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041648" y="2907792"/>
            <a:ext cx="4279392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96512" y="2907792"/>
            <a:ext cx="41879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constrained optimizer. Handles equality (Σw=1) and box constraints (w≥0). Closed-form convergence with full auditability — every weight traceable to inputs.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321040" y="2907792"/>
            <a:ext cx="7498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75904" y="2907792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56032" y="3355848"/>
            <a:ext cx="1371600" cy="429768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0896" y="3355848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627632" y="3355848"/>
            <a:ext cx="16642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682496" y="3355848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LCEL 1.x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291840" y="3355848"/>
            <a:ext cx="7498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46704" y="3355848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0.1.20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041648" y="3355848"/>
            <a:ext cx="427939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96512" y="3355848"/>
            <a:ext cx="41879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LLM abstraction. Modern pipe syntax (prompt | llm). Replaces deprecated LLMChain. Enables structured output, retry logic, and chain composition.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321040" y="3355848"/>
            <a:ext cx="7498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75904" y="3355848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56032" y="3803904"/>
            <a:ext cx="1371600" cy="429768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10896" y="3803904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1627632" y="3803904"/>
            <a:ext cx="16642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682496" y="3803904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v2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291840" y="3803904"/>
            <a:ext cx="7498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346704" y="3803904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0.111.0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041648" y="3803904"/>
            <a:ext cx="4279392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96512" y="3803904"/>
            <a:ext cx="41879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Auto-validates all requests. 3× faster than Flask under async load. OpenAPI docs auto-generated. CORS middleware included. Kubernetes-compatible with uvicorn workers.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321040" y="3803904"/>
            <a:ext cx="749808" cy="4297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75904" y="3803904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56032" y="4251960"/>
            <a:ext cx="1371600" cy="429768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0896" y="4251960"/>
            <a:ext cx="1280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627632" y="4251960"/>
            <a:ext cx="16642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682496" y="4251960"/>
            <a:ext cx="1572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(python:3.10-slim)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3291840" y="4251960"/>
            <a:ext cx="7498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46704" y="4251960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Latest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041648" y="4251960"/>
            <a:ext cx="427939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096512" y="4251960"/>
            <a:ext cx="41879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behavior dev → staging → production. Slim base = 150MB image. Healthcheck via curl. Compose orchestrates frontend + API services locally.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8321040" y="4251960"/>
            <a:ext cx="7498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75904" y="4251960"/>
            <a:ext cx="658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256032" y="4741164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versions pinned in requirements.txt for reproducible builds. Model weights downloaded from Hugging Face Hub on first container start and cached in persistent volume.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8631936" cy="274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19456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V. SECURITY, COMPLIANCE &amp; MODEL GOVERNANCE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60350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controls designed for a regulated financial environment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841248"/>
            <a:ext cx="283464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841248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1188720"/>
            <a:ext cx="28346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426464"/>
            <a:ext cx="146304" cy="14630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243584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injected as environment secrets — never in source code, container images, or version control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188366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121408"/>
            <a:ext cx="146304" cy="14630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93852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 explicitly excludes all .env files and credential stores from Docker build context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578608"/>
            <a:ext cx="28346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816352"/>
            <a:ext cx="146304" cy="14630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633472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or proprietary trading data processed — system uses public market feeds and public news APIs only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3273552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511296"/>
            <a:ext cx="146304" cy="14630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28416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endpoints served over HTTPS — TLS termination at the reverse proxy layer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968496"/>
            <a:ext cx="28346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4206240"/>
            <a:ext cx="146304" cy="146304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02336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audit log: timestamp, ticker universe, alpha parameter, and user ID on every call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841248"/>
            <a:ext cx="2834640" cy="2743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841248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1188720"/>
            <a:ext cx="28346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1426464"/>
            <a:ext cx="146304" cy="146304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1243584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versions pinned in requirements.txt — bit-for-bit reproducible builds guaranteed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0" y="188366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2121408"/>
            <a:ext cx="146304" cy="146304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193852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outputs trace to source headlines — zero black-box scores; full input-output lineage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0" y="2578608"/>
            <a:ext cx="28346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2816352"/>
            <a:ext cx="146304" cy="146304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11296" y="2633472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constraints hardcoded: long-only (w ≥ 0), fully-invested (Σw = 1.0) — no drift possible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0" y="3273552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3511296"/>
            <a:ext cx="146304" cy="146304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11296" y="3328416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prompts include source articles used for reasoning — every recommendation is auditable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0" y="3968496"/>
            <a:ext cx="28346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4206240"/>
            <a:ext cx="146304" cy="146304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11296" y="402336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fallback activates automatically on LLM failure — zero recommendation downtime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44768" y="841248"/>
            <a:ext cx="283464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841248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44768" y="1188720"/>
            <a:ext cx="28346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36208" y="1426464"/>
            <a:ext cx="146304" cy="146304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55664" y="1243584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HEALTHCHECK on all services — orchestrator auto-restarts on failure (Kubernetes-compatible)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44768" y="188366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36208" y="2121408"/>
            <a:ext cx="146304" cy="146304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55664" y="193852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every pipeline step has try/except fallback — single-component failure is non-fatal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44768" y="2578608"/>
            <a:ext cx="28346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36208" y="2816352"/>
            <a:ext cx="146304" cy="146304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55664" y="2633472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configurable per-request delay prevents API quota exhaustion cascade failures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44768" y="3273552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36208" y="3511296"/>
            <a:ext cx="146304" cy="146304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55664" y="3328416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input validation rejects malformed requests at API ingress — pipeline never receives bad data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44768" y="3968496"/>
            <a:ext cx="28346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36208" y="4206240"/>
            <a:ext cx="146304" cy="146304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55664" y="402336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Post-optimization weight validation: np.clip → renormalize → sum check enforced on every run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6032" y="4741164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System is a research prototype. Full production deployment requires additional compliance review, stress testing, and approval by Risk &amp; Compliance.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8631936" cy="274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19456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VI. FINANCIAL IMPACT &amp; ROI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60350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value creation across three dimensions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841248"/>
            <a:ext cx="2834640" cy="1389888"/>
          </a:xfrm>
          <a:prstGeom prst="rect">
            <a:avLst/>
          </a:prstGeom>
          <a:solidFill>
            <a:srgbClr val="F7F9FC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841248"/>
            <a:ext cx="2834640" cy="5486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8961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GENERATION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133856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" y="17190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units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9202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 optimized vs 0.92 baseline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228600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496312"/>
            <a:ext cx="54864" cy="914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22576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Sentiment-adjusted weights capture news alpha before price reaction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2852928"/>
            <a:ext cx="283464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063240"/>
            <a:ext cx="54864" cy="914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889504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 annual sentiment events currently missed by pure quant models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419856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630168"/>
            <a:ext cx="54864" cy="914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4564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0.5–1.5% annualized return improvement on blended signal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3986784"/>
            <a:ext cx="283464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4197096"/>
            <a:ext cx="54864" cy="914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02336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value grows proportionally with AUM scale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0" y="841248"/>
            <a:ext cx="2834640" cy="1389888"/>
          </a:xfrm>
          <a:prstGeom prst="rect">
            <a:avLst/>
          </a:prstGeom>
          <a:solidFill>
            <a:srgbClr val="F7F9FC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841248"/>
            <a:ext cx="2834640" cy="5486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8961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91840" y="1133856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~60%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3291840" y="17190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 reduction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91840" y="19202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 vs manual review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0" y="228600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2496312"/>
            <a:ext cx="54864" cy="914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9856" y="2322576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2–3 hours/day of manual news monitoring per analyst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0" y="2852928"/>
            <a:ext cx="283464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3063240"/>
            <a:ext cx="54864" cy="914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19856" y="2889504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pipeline runs in ~42 seconds end-to-end, fully unattended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0" y="3419856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630168"/>
            <a:ext cx="54864" cy="914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9856" y="34564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50+ positions with no incremental analyst headcount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3986784"/>
            <a:ext cx="283464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0" y="4197096"/>
            <a:ext cx="54864" cy="914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19856" y="402336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documentation auto-generated — zero manual post-hoc work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44768" y="841248"/>
            <a:ext cx="2834640" cy="1389888"/>
          </a:xfrm>
          <a:prstGeom prst="rect">
            <a:avLst/>
          </a:prstGeom>
          <a:solidFill>
            <a:srgbClr val="F7F9F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44768" y="841248"/>
            <a:ext cx="283464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8961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VALUE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36208" y="1133856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−4.7%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6236208" y="17190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reduction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36208" y="19202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22.8% → 18.1% annualized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44768" y="228600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36208" y="2496312"/>
            <a:ext cx="54864" cy="914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64224" y="2322576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volatility = higher Sharpe at same return level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44768" y="2852928"/>
            <a:ext cx="283464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36208" y="3063240"/>
            <a:ext cx="54864" cy="914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64224" y="2889504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Correlation-aware optimization reduces concentration risk (HHI)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44768" y="3419856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36208" y="3630168"/>
            <a:ext cx="54864" cy="914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64224" y="34564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overlay provides early warning on position-level risk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44768" y="3986784"/>
            <a:ext cx="283464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36208" y="4197096"/>
            <a:ext cx="54864" cy="914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64224" y="402336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at 95% confidence: $2,400/day per $100K — clearly quantified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56032" y="4741164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All figures based on backtested prototype results. Alpha improvement and efficiency gains are estimates. Forward-looking statements subject to market conditions.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8631936" cy="274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19456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VII. COMPETITIVE LANDSCAPE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60350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 buy analysis — our integrated approach vs standalone tools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841248"/>
            <a:ext cx="2176272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84124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32304" y="841248"/>
            <a:ext cx="1261872" cy="34747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84124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94176" y="841248"/>
            <a:ext cx="1261872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84124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PORT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56048" y="841248"/>
            <a:ext cx="1261872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84124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FactSet Alpha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0" y="841248"/>
            <a:ext cx="1261872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84124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Tools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79792" y="841248"/>
            <a:ext cx="1261872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34656" y="84124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" y="1188720"/>
            <a:ext cx="2176272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188720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optimization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32304" y="1188720"/>
            <a:ext cx="1261872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32304" y="11887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94176" y="1188720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4176" y="11887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56048" y="1188720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1887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1188720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1887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79792" y="1188720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11887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1536192"/>
            <a:ext cx="2176272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1536192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sentiment (financial-domain NLP)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32304" y="1536192"/>
            <a:ext cx="1261872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32304" y="153619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94176" y="1536192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94176" y="153619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56048" y="1536192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153619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1536192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153619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79792" y="1536192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79792" y="153619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6032" y="1883664"/>
            <a:ext cx="2176272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1883664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news retrieval (FAISS RAG)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432304" y="1883664"/>
            <a:ext cx="1261872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32304" y="188366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94176" y="1883664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94176" y="188366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56048" y="1883664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188366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17920" y="1883664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188366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79792" y="1883664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79792" y="188366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56032" y="2231136"/>
            <a:ext cx="2176272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2231136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plain-English explanations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432304" y="2231136"/>
            <a:ext cx="1261872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32304" y="223113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694176" y="2231136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94176" y="223113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956048" y="2231136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56048" y="223113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217920" y="2231136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223113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479792" y="2231136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79792" y="223113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56032" y="2578608"/>
            <a:ext cx="2176272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2578608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recommendation trail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432304" y="2578608"/>
            <a:ext cx="1261872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32304" y="257860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694176" y="2578608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94176" y="257860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956048" y="2578608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56048" y="257860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217920" y="2578608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17920" y="257860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479792" y="2578608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79792" y="257860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256032" y="2926080"/>
            <a:ext cx="2176272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7472" y="2926080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news integration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432304" y="2926080"/>
            <a:ext cx="1261872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432304" y="292608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694176" y="2926080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94176" y="292608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956048" y="2926080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56048" y="292608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217920" y="2926080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17920" y="292608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479792" y="2926080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79792" y="292608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256032" y="3273552"/>
            <a:ext cx="2176272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47472" y="3273552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 (VaR + Drawdown + HHI)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2432304" y="3273552"/>
            <a:ext cx="1261872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432304" y="327355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3694176" y="3273552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94176" y="327355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4956048" y="3273552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956048" y="327355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6217920" y="3273552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17920" y="327355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7479792" y="3273552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479792" y="327355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256032" y="3621024"/>
            <a:ext cx="2176272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47472" y="3621024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cloud deployment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2432304" y="3621024"/>
            <a:ext cx="1261872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432304" y="362102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3694176" y="3621024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694176" y="362102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4956048" y="3621024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956048" y="362102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6217920" y="3621024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217920" y="362102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7479792" y="3621024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479792" y="362102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256032" y="3968496"/>
            <a:ext cx="2176272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47472" y="3968496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— no vendor lock-in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432304" y="3968496"/>
            <a:ext cx="1261872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432304" y="396849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3694176" y="3968496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694176" y="396849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4956048" y="3968496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956048" y="396849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6217920" y="3968496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217920" y="396849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7479792" y="3968496"/>
            <a:ext cx="1261872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479792" y="3968496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256032" y="4315968"/>
            <a:ext cx="2176272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47472" y="4315968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quant-sentiment blend (α)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2432304" y="4315968"/>
            <a:ext cx="1261872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432304" y="431596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3694176" y="4315968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694176" y="431596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4956048" y="4315968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956048" y="431596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6217920" y="4315968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217920" y="431596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7479792" y="4315968"/>
            <a:ext cx="12618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479792" y="431596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42" name="Text 140"/>
          <p:cNvSpPr/>
          <p:nvPr/>
        </p:nvSpPr>
        <p:spPr>
          <a:xfrm>
            <a:off x="256032" y="4741164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Bloomberg PORT and FactSet Alpha are enterprise licensed products. Feature comparison based on publicly available documentation and product capabilities as of Q1 2025.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8631936" cy="274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19456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VIII. ROADMAP TO PRODUCTION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60350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plan — prototype to institutional-scale deployment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993392"/>
            <a:ext cx="8631936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1920240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841248"/>
            <a:ext cx="2834640" cy="10515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8778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107899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COMPLETE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" y="12984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Deployed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6032" y="2121408"/>
            <a:ext cx="2834640" cy="24871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304288"/>
            <a:ext cx="73152" cy="12801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217627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8-step ML pipeline operational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2743200"/>
            <a:ext cx="73152" cy="12801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615184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+ Streamlit dashboard live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3182112"/>
            <a:ext cx="73152" cy="12801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054096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containerized + HF Spaces deployed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621024"/>
            <a:ext cx="73152" cy="12801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493008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 large-cap tickers validated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4059936"/>
            <a:ext cx="73152" cy="12801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931920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· FAISS · Groq integrated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4370832"/>
            <a:ext cx="2834640" cy="2377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37083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Estimate:  Completed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096512" y="1920240"/>
            <a:ext cx="201168" cy="20116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841248"/>
            <a:ext cx="2834640" cy="105156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8778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107899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— 6 WEEKS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91840" y="12984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Upgrade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00400" y="2121408"/>
            <a:ext cx="2834640" cy="24871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2304288"/>
            <a:ext cx="73152" cy="12801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8144" y="217627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auth + RBAC (streamlit-authenticator)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2743200"/>
            <a:ext cx="73152" cy="12801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8144" y="2615184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 migration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91840" y="3182112"/>
            <a:ext cx="73152" cy="12801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38144" y="3054096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NSE equity universe (top 20 Nifty 50)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91840" y="3621024"/>
            <a:ext cx="73152" cy="12801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38144" y="3493008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tracking + portfolio history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91840" y="4059936"/>
            <a:ext cx="73152" cy="128016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38144" y="3931920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B-PIPE news integration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0" y="4370832"/>
            <a:ext cx="2834640" cy="237744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437083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Estimate:  1 ML Engineer × 6 wks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040880" y="1920240"/>
            <a:ext cx="201168" cy="201168"/>
          </a:xfrm>
          <a:prstGeom prst="ellipse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44768" y="841248"/>
            <a:ext cx="2834640" cy="10515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36208" y="8778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36208" y="107899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— 12 WEEKS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36208" y="12984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Scale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44768" y="2121408"/>
            <a:ext cx="2834640" cy="24871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36208" y="2304288"/>
            <a:ext cx="73152" cy="12801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2512" y="217627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 (AWS EKS)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36208" y="2743200"/>
            <a:ext cx="73152" cy="12801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2512" y="2615184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backtesting framework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36208" y="3182112"/>
            <a:ext cx="73152" cy="12801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2512" y="3054096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asset universe (S&amp;P 500 top 50)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36208" y="3621024"/>
            <a:ext cx="73152" cy="12801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82512" y="3493008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news streaming (WebSocket)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36208" y="4059936"/>
            <a:ext cx="73152" cy="12801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82512" y="3931920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Rule 17a-4 compliance audit export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144768" y="4370832"/>
            <a:ext cx="2834640" cy="23774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36208" y="437083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Estimate:  2 ML Engineers × 12 wks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8631936" cy="274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19456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REQUEST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60350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we require from leadership to advance to institutional deployment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841248"/>
            <a:ext cx="475488" cy="12618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841248"/>
            <a:ext cx="47548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841248"/>
            <a:ext cx="8156448" cy="1261872"/>
          </a:xfrm>
          <a:prstGeom prst="rect">
            <a:avLst/>
          </a:prstGeom>
          <a:solidFill>
            <a:srgbClr val="F7F9FC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841248"/>
            <a:ext cx="8156448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85953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Phase 2 Development Sprint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65392" y="859536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CTO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65392" y="1024128"/>
            <a:ext cx="22128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·  6 weeks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1248" y="1207008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a 6-week development sprint to upgrade the prototype to enterprise-grade multi-user system. Deliverables: PostgreSQL-backed portfolio persistence, bcrypt authentication, Indian NSE equity support, Bloomberg B-PIPE integration pilot. Resource: 1 ML Engineer Level IV. Infrastructure: AWS RDS (dev tier during sprint, Aurora in production).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35824" y="1207008"/>
            <a:ext cx="1152144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1225296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772400" y="138988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prototype into a deployable internal tool for Algorithmic Strategies analysts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56032" y="2231136"/>
            <a:ext cx="475488" cy="126187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231136"/>
            <a:ext cx="47548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" y="2231136"/>
            <a:ext cx="8156448" cy="1261872"/>
          </a:xfrm>
          <a:prstGeom prst="rect">
            <a:avLst/>
          </a:prstGeom>
          <a:solidFill>
            <a:srgbClr val="F7F9FC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231136"/>
            <a:ext cx="8156448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224942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Authorize Bloomberg B-PIPE News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65392" y="2249424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CIO / Head of Data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65392" y="2414016"/>
            <a:ext cx="22128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·  2-week integration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" y="2596896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NewsAPI free tier (100 req/day cap, 30-day lag) with Bloomberg B-PIPE enterprise news feed. This closes the primary data quality gap between prototype and production-grade system. Estimated integration: 2 days engineering effort once B-PIPE credentials are provisioned. Bloomberg subscription assumed available under existing enterprise agreement.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735824" y="2596896"/>
            <a:ext cx="1152144" cy="65836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54112" y="2615184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772400" y="277977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sentiment signal quality from retail-grade to institutional-grade — real-time, credibility-weighted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56032" y="3621024"/>
            <a:ext cx="475488" cy="1261872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621024"/>
            <a:ext cx="47548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31520" y="3621024"/>
            <a:ext cx="8156448" cy="1261872"/>
          </a:xfrm>
          <a:prstGeom prst="rect">
            <a:avLst/>
          </a:prstGeom>
          <a:solidFill>
            <a:srgbClr val="F7F9FC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3621024"/>
            <a:ext cx="8156448" cy="329184"/>
          </a:xfrm>
          <a:prstGeom prst="rect">
            <a:avLst/>
          </a:prstGeom>
          <a:solidFill>
            <a:srgbClr val="D0E4F5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363931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Asset Universe to 50+ Equities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65392" y="363931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Head of Algorithmic Trading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65392" y="3803904"/>
            <a:ext cx="22128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6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 ·  Phase 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41248" y="3986784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4-stock proof-of-concept to S&amp;P 500 top 50 by liquidity plus Nifty 50 top 20. Requires: GPU inference cluster for FinBERT batch processing (10× throughput), FAISS IVF index replacing flat index for sub-millisecond search at 100K+ documents, and dedicated Redis cache for optimization result caching. Estimated additional infrastructure cost: $800–1,200/month AWS.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735824" y="3986784"/>
            <a:ext cx="1152144" cy="65836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54112" y="400507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772400" y="4169664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the addressable $100B+ AUM scope within JPMorgan algorithmic strategies equity book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56032" y="4741164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 estimates are preliminary. Final scope subject to review by Engineering Leadership and Risk &amp; Compliance prior to sprint authorization.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 |  MACHINE LEARNING DIVISION  |  ALGORITHMIC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423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— NOT FOR EXTERNAL DISTRIBUTION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0" y="201168"/>
            <a:ext cx="9144000" cy="23591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10896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&amp; CO.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59436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200400" y="1316736"/>
            <a:ext cx="2743200" cy="457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17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AI-Powered Portfolio Optimizer  |  Machine Learning Division  |  Algorithmic Strategies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6916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|  Internal Executive Briefing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724912"/>
            <a:ext cx="2834640" cy="1508760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724912"/>
            <a:ext cx="2834640" cy="457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79776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299923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Parmod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401568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Engineer, Level IV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Strategies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2724912"/>
            <a:ext cx="2834640" cy="1508760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724912"/>
            <a:ext cx="2834640" cy="457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779776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10128" y="299923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github.com/Parmodk2310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3401568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AI-Powered-Portfolio-Optimizer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+ documentation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44768" y="2724912"/>
            <a:ext cx="2834640" cy="1508760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2724912"/>
            <a:ext cx="2834640" cy="457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2779776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54496" y="2999232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parmodk.official@gmail.com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3401568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linkedin.com/in/parmodk2310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follow-up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6032" y="4315968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contains forward-looking statements and is prepared solely for internal discussion purposes. It does not constitute investment advice. All performance figures are based on backtested hypothetical results.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Portfolio Optimizer — Executive Briefing</dc:title>
  <dc:subject>JPMorgan Machine Learning Division — Algorithmic Strategies</dc:subject>
  <dc:creator>Parmod — ML Engineer IV, JPMorgan Chase</dc:creator>
  <cp:lastModifiedBy>Parmod — ML Engineer IV, JPMorgan Chase</cp:lastModifiedBy>
  <cp:revision>1</cp:revision>
  <dcterms:created xsi:type="dcterms:W3CDTF">2026-05-25T04:42:53Z</dcterms:created>
  <dcterms:modified xsi:type="dcterms:W3CDTF">2026-05-25T04:42:53Z</dcterms:modified>
</cp:coreProperties>
</file>